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96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1122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Assinatura Digital e Verificação Segura de Arquivos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B7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RSA-2048 · RSA-OAEP · RSA-PSS · SHA3-256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260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em Python puro, sem OpenSSL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0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testes passando · Interoperabilidade verificada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CIC0201 – Segurança Computacional · 2026/2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94B9AC"/>
                </a:solidFill>
                <a:latin typeface="Calibri" pitchFamily="34" charset="0"/>
                <a:cs typeface="Calibri" pitchFamily="34" charset="-120"/>
              </a:rPr>
              <a:t>Daniel  de Oliveira, Davi Bragança, Roberto Neto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4C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Partes do projeto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463040" cy="2377440"/>
          </a:xfrm>
          <a:prstGeom prst="roundRect">
            <a:avLst>
              <a:gd name="adj" fmla="val 6250"/>
            </a:avLst>
          </a:prstGeom>
          <a:solidFill>
            <a:srgbClr val="06A878"/>
          </a:solidFill>
          <a:ln w="12700">
            <a:solidFill>
              <a:srgbClr val="0F4C7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005840" y="1417320"/>
            <a:ext cx="365760" cy="36576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100584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30352" y="187452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Chaves RSA-2048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402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Miller-Rabin, parâmetros, CRT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84832" y="1280160"/>
            <a:ext cx="1463040" cy="2377440"/>
          </a:xfrm>
          <a:prstGeom prst="roundRect">
            <a:avLst>
              <a:gd name="adj" fmla="val 6250"/>
            </a:avLst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2633472" y="1417320"/>
            <a:ext cx="365760" cy="36576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2633472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157984" y="187452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Cifragem OAEP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176272" y="22402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Probabilístico, anti-oráculo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12464" y="1280160"/>
            <a:ext cx="1463040" cy="2377440"/>
          </a:xfrm>
          <a:prstGeom prst="roundRect">
            <a:avLst>
              <a:gd name="adj" fmla="val 6250"/>
            </a:avLst>
          </a:prstGeom>
          <a:solidFill>
            <a:srgbClr val="06A878"/>
          </a:solidFill>
          <a:ln w="12700">
            <a:solidFill>
              <a:srgbClr val="0F4C7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261104" y="1417320"/>
            <a:ext cx="365760" cy="36576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4261104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785616" y="187452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PSS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803904" y="22402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Salt, verificação estrita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40096" y="1280160"/>
            <a:ext cx="1463040" cy="2377440"/>
          </a:xfrm>
          <a:prstGeom prst="roundRect">
            <a:avLst>
              <a:gd name="adj" fmla="val 6250"/>
            </a:avLst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5888736" y="1417320"/>
            <a:ext cx="365760" cy="36576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5888736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13248" y="187452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31536" y="22402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Adulteração detectada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67728" y="1280160"/>
            <a:ext cx="1463040" cy="2377440"/>
          </a:xfrm>
          <a:prstGeom prst="roundRect">
            <a:avLst>
              <a:gd name="adj" fmla="val 6250"/>
            </a:avLst>
          </a:prstGeom>
          <a:solidFill>
            <a:srgbClr val="06A878"/>
          </a:solidFill>
          <a:ln w="12700">
            <a:solidFill>
              <a:srgbClr val="0F4C7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7516368" y="1417320"/>
            <a:ext cx="365760" cy="36576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 txBox="1"/>
          <p:nvPr/>
        </p:nvSpPr>
        <p:spPr>
          <a:xfrm>
            <a:off x="7516368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1874520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059168" y="224028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RSA cru falha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Aritmética modular implementada pelo grupo: Euclides estendido, exponenciação por quadrados, inverso modular.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4C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I: Geração de chaves — Miller-Rabin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2834640"/>
          </a:xfrm>
          <a:prstGeom prst="roundRect">
            <a:avLst>
              <a:gd name="adj" fmla="val 2581"/>
            </a:avLst>
          </a:prstGeom>
          <a:solidFill>
            <a:srgbClr val="E8F4F1"/>
          </a:solidFill>
          <a:ln w="12700">
            <a:solidFill>
              <a:srgbClr val="E8F4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 − 1 = 2ˢ · d (d ímpar)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Para 40 bases aleatórias a ∈ [2, n−2]: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é testemunha de composição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⟹ n é composto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14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 nenhuma testemunha apareceu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⟹ n provavelmente é primo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71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Erro: ≤ 2⁻⁸⁰ no pior caso (FIPS 186-5)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337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Tempo: ~2–3 segundos por primo de 1024 bits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(40 rodadas, divisão por primos &lt; 2000)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4F9F7"/>
          </a:solidFill>
          <a:ln w="12700">
            <a:solidFill>
              <a:srgbClr val="F4F9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4800600" y="1371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p · q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1719072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com exatamente 2048 bits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|p − q| &gt; 2⁹²⁴ (FIPS 186-5)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mdc(p−1, e) = 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74320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4800600" y="2834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65537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3182112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Expoente público padrão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(fast verification)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4C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I: Parâmetros da chave privada (CRT)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05409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Parâmetro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A8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A8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quê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A8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6A8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· 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 público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6A8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65537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expoente público padrão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6A8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e⁻¹ mod λ(n)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expoente privado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6A8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p, 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fatores primos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secretos; λ(n) = mmc(p−1, q−1)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6A8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mod (p−1)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acelera CRT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6A8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mod (q−1)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acelera CRT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6A8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qinv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q⁻¹ mod 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completa CRT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CRT (Teorema do Resto Chinês): calcula x^d mod n = 4× mais rápido, usando p e q como moduli menores.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4C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II: RSA-OAEP — Codificação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do RSA cru (c = m^e mod n):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4F9F7"/>
          </a:solidFill>
          <a:ln w="12700">
            <a:solidFill>
              <a:srgbClr val="F4F9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594360" y="1600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Determinístico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47672"/>
            <a:ext cx="2240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mensagem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mesma cifra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dicionário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08960" y="150876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4F9F7"/>
          </a:solidFill>
          <a:ln w="12700">
            <a:solidFill>
              <a:srgbClr val="F4F9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3246120" y="1600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Maleável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1947672"/>
            <a:ext cx="2240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Enc(m₁)·Enc(m₂) =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Enc(m₁·m₂) mod 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15000" y="150876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4F9F7"/>
          </a:solidFill>
          <a:ln w="12700">
            <a:solidFill>
              <a:srgbClr val="F4F9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5852160" y="1600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redundância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1947672"/>
            <a:ext cx="2240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desvio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tempo vaza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017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OAEP (256 bytes para RSA-2048):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4F9F7"/>
          </a:solidFill>
          <a:ln w="12700">
            <a:solidFill>
              <a:srgbClr val="06A87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640080" y="3429000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(mensagem, ≤190 B) → DB = SHA3-256("") | 00…00 | 01 | M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63931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 = secrets.token_bytes(32) → maskedDB = DB ⊕ MGF1(seed) → maskedSeed = seed ⊕ MGF1(maskedDB)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895344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 = 00 | maskedSeed | maskedDB → c = EM^e mod 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4C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II: OAEP — O que cada parte faz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4F9F7"/>
          </a:solidFill>
          <a:ln w="12700">
            <a:solidFill>
              <a:srgbClr val="F4F9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594360" y="1280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aleatória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6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(32 B)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27632"/>
            <a:ext cx="22860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cifragem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produz cifrado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(probabilístico)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118872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4F9F7"/>
          </a:solidFill>
          <a:ln w="12700">
            <a:solidFill>
              <a:srgbClr val="F4F9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3337560" y="1280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MGF1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6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(SHA3-256)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337560" y="1627632"/>
            <a:ext cx="22860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bit de EM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 seed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(mistura)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118872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4F9F7"/>
          </a:solidFill>
          <a:ln w="12700">
            <a:solidFill>
              <a:srgbClr val="F4F9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6080760" y="1280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Redundância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6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(lHash, 0x01)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80760" y="1627632"/>
            <a:ext cx="22860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corrompido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passa na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decodificação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(IND-CCA2)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4F9F7"/>
          </a:solidFill>
          <a:ln w="12700">
            <a:solidFill>
              <a:srgbClr val="F4F9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594360" y="3383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Anti-oráculo (Manger)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730752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Decifragem: TODAS as verificações antes da decisão. MESMA mensagem de erro em MESMO tempo. Evita ~1000 consultas.{bs:11}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329184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F4F9F7"/>
          </a:solidFill>
          <a:ln w="12700">
            <a:solidFill>
              <a:srgbClr val="F4F9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4709160" y="3383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máximo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709160" y="3730752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− 2·hLen − 2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256 − 64 − 2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190 bytes{bs:11}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4C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III: RSA-PSS — Assinatura probabilística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Entrada: arquivo qualquer | Saída: 256 bytes em Base64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2560320"/>
          </a:xfrm>
          <a:prstGeom prst="roundRect">
            <a:avLst>
              <a:gd name="adj" fmla="val 2857"/>
            </a:avLst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731520" y="1600200"/>
            <a:ext cx="7680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mHash = SHA3-256(arquivo)                   ← 32 bytes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M' = 00×8 || mHash || salt (aleatório, 32 B)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SHA3-256(M')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 = 00…00 || 01 || salt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maskedDB = DB ⊕ MGF1(H)      ← operação com blinding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 = maskedDB || H || 0xBC    ← 256 bytes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EM^d mod n                ← operação privada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Base64(s) → arquivo.sig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4C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III: PSS — O que cada parte faz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F4F9F7"/>
          </a:solidFill>
          <a:ln w="12700">
            <a:solidFill>
              <a:srgbClr val="F4F9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5943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aleatório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6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(32 B)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27632"/>
            <a:ext cx="36576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Assinar 2× o mesmo arquivo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⟹ 2 assinaturas DIFERENTES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(mas ambas válidas)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118872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F4F9F7"/>
          </a:solidFill>
          <a:ln w="12700">
            <a:solidFill>
              <a:srgbClr val="F4F9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4709160" y="1280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Hash(M')
com salt
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1627632"/>
            <a:ext cx="33832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 o hash ao salt: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impossível falsificar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conhecer o salt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4F9F7"/>
          </a:solidFill>
          <a:ln w="12700">
            <a:solidFill>
              <a:srgbClr val="F4F9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59436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Destruir estrutura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6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multiplicativa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639312"/>
            <a:ext cx="3657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s₁ · s₂ já não é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válida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3200400"/>
            <a:ext cx="3657600" cy="1645920"/>
          </a:xfrm>
          <a:prstGeom prst="roundRect">
            <a:avLst>
              <a:gd name="adj" fmla="val 4444"/>
            </a:avLst>
          </a:prstGeom>
          <a:solidFill>
            <a:srgbClr val="F4F9F7"/>
          </a:solidFill>
          <a:ln w="12700">
            <a:solidFill>
              <a:srgbClr val="F4F9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4709160" y="3291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Blinding na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6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privada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3639312"/>
            <a:ext cx="33832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CRT com r^e: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em tempo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não depende de x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4C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Cifragem × assinatura: usos distintos do RSA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99923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C7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Confidencialidade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C7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Autenticidade + integridade + não repúdio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C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F4C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cifra/assina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Signatário (chave privada)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F4C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verifica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Apenas destinatário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Qualquer pessoa (chave pública)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F4C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Primitivas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RSAEP / RSADP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RSASP1 / RSAVP1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F4C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Codificação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EME-OAEP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EMSA-PSS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F4C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Segurança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IND-CCA2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EUF-CMA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F4C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Reversível?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Sim: recupera 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Não: só verifica 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"Assinar = cifrar hash" herda todos os problemas do RSA cru (determinístico, maleável, sem redundância).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4C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IV: Verificação e testes de adulteração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4F9F7"/>
          </a:solidFill>
          <a:ln w="12700">
            <a:solidFill>
              <a:srgbClr val="F4F9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594360" y="12801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PEM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27632"/>
            <a:ext cx="7955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-----BEGIN RSASEG SIGNATURE----- | Version | Algorithm | Hash | Key-Fingerprint | File-Digest | Signature | -----END-----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659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(a): Um byte do arquivo alterado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945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SHA3-256(arquivo) ≠ File-Digest registrado ⟹ ARQUIVO_ALTERADO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606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(b): Um byte da assinatura alterado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8346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RSAVP1(s) ≠ EM esperado; verificação EMSA-PSS falha ⟹ ASSINATURA_INVALIDA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246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(c): Chave pública trocada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4747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 = SHA3-256("rsaseg-pub" | n | e); registro ≠ fornecido ⟹ CHAVE_INCORRETA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crítica: o File-Digest no cabeçalho é informativo. A decisão usa o digest RECALCULADO.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4C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V: Por que RSA cru é inseguro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423160" cy="1554480"/>
          </a:xfrm>
          <a:prstGeom prst="roundRect">
            <a:avLst>
              <a:gd name="adj" fmla="val 4706"/>
            </a:avLst>
          </a:prstGeom>
          <a:solidFill>
            <a:srgbClr val="F4F9F7"/>
          </a:solidFill>
          <a:ln w="12700">
            <a:solidFill>
              <a:srgbClr val="F4F9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594360" y="12801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Determinismo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27632"/>
            <a:ext cx="2148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texto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mesmo cifrado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dicionário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63240" y="1188720"/>
            <a:ext cx="2423160" cy="1554480"/>
          </a:xfrm>
          <a:prstGeom prst="roundRect">
            <a:avLst>
              <a:gd name="adj" fmla="val 4706"/>
            </a:avLst>
          </a:prstGeom>
          <a:solidFill>
            <a:srgbClr val="F4F9F7"/>
          </a:solidFill>
          <a:ln w="12700">
            <a:solidFill>
              <a:srgbClr val="F4F9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3200400" y="12801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Maleabilidade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1627632"/>
            <a:ext cx="2148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c·2^e decifra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2m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(sem conhecer m)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0" y="118872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4F9F7"/>
          </a:solidFill>
          <a:ln w="12700">
            <a:solidFill>
              <a:srgbClr val="F4F9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5806440" y="1280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pequeno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806440" y="1627632"/>
            <a:ext cx="2286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m^e &lt; n?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⟹ raiz e-ésima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(Håstad)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2423160" cy="1554480"/>
          </a:xfrm>
          <a:prstGeom prst="roundRect">
            <a:avLst>
              <a:gd name="adj" fmla="val 4706"/>
            </a:avLst>
          </a:prstGeom>
          <a:solidFill>
            <a:srgbClr val="F4F9F7"/>
          </a:solidFill>
          <a:ln w="12700">
            <a:solidFill>
              <a:srgbClr val="F4F9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594360" y="29718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Multiplicativo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319272"/>
            <a:ext cx="2148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s₁·s₂ é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063240" y="2880360"/>
            <a:ext cx="2423160" cy="1554480"/>
          </a:xfrm>
          <a:prstGeom prst="roundRect">
            <a:avLst>
              <a:gd name="adj" fmla="val 4706"/>
            </a:avLst>
          </a:prstGeom>
          <a:solidFill>
            <a:srgbClr val="F4F9F7"/>
          </a:solidFill>
          <a:ln w="12700">
            <a:solidFill>
              <a:srgbClr val="F4F9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3200400" y="29718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v1.5 antigo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200400" y="3319272"/>
            <a:ext cx="2148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Bleichenbacher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(1998, 2006,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0" y="288036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4F9F7"/>
          </a:solidFill>
          <a:ln w="12700">
            <a:solidFill>
              <a:srgbClr val="F4F9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 txBox="1"/>
          <p:nvPr/>
        </p:nvSpPr>
        <p:spPr>
          <a:xfrm>
            <a:off x="580644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806440" y="3319272"/>
            <a:ext cx="2286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OAEP + PSS: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aleatoriedade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redundância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4C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RSA-PSS-2048 vs Ed25519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127248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A8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RSA-PSS-2048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A8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Ed25519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A8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4C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Segurança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≈112 bits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≈128 bits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4C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Chave pública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4C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Assinatura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4C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Geração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10+ seg (Miller-Rabin)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instantânea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4C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Aleatoriedade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salt aleatório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determinística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4C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Cifragem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(OAEP)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(X25519)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4C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 constante?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4C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Pós-quântico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quebrado por Shor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quebrado por Shor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6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RSA-PSS: legado PKI, verificação rápida. Ed25519: menor, mais rápido, menos armadilhas. Futuro: ML-DSA (FIPS 204).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4C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Testes e conclusão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1C5F7D"/>
          </a:solidFill>
          <a:ln w="12700">
            <a:solidFill>
              <a:srgbClr val="1C5F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59436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testes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490472"/>
            <a:ext cx="3657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Aritmetica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Miller-Rabin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OAEP (9)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PSS (7)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Adulteração (17)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Interop (5)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1051560"/>
            <a:ext cx="3657600" cy="1645920"/>
          </a:xfrm>
          <a:prstGeom prst="roundRect">
            <a:avLst>
              <a:gd name="adj" fmla="val 4444"/>
            </a:avLst>
          </a:prstGeom>
          <a:solidFill>
            <a:srgbClr val="1C5F7D"/>
          </a:solidFill>
          <a:ln w="12700">
            <a:solidFill>
              <a:srgbClr val="1C5F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4709160" y="1143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pronta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1490472"/>
            <a:ext cx="33832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gerar-chaves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cifrar / decifrar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assinar / verificar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de saída: 0/1/2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9260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não está: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2004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não oferece tempo constante; mitigamos com blinding e ausência de desvios de dados secretos.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4930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privada em claro (0600); produção usaria PBKDF2+AES-GCM ou HSM.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78561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OAEP só para ≤190 B; arquivos usariam cifragem híbrida (OAEP+AES-GCM).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07822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de confiança: a assinatura prova origem, não identidade. Precisa-se de certificados ou TOFU.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Referências: RFC 8017 (PKCS#1), FIPS 186-5, FIPS 202 (SHA-3), SP 800-56B.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1258</Words>
  <Application>Microsoft Office PowerPoint</Application>
  <PresentationFormat>Apresentação na tela (16:9)</PresentationFormat>
  <Paragraphs>257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Assinatura Digital RSA-PSS e RSA-OAEP</dc:title>
  <dc:subject>PptxGenJS Presentation</dc:subject>
  <dc:creator>PptxGenJS</dc:creator>
  <cp:lastModifiedBy>Sandra Regina Bragança e Silva</cp:lastModifiedBy>
  <cp:revision>2</cp:revision>
  <dcterms:created xsi:type="dcterms:W3CDTF">2026-09-28T23:57:25Z</dcterms:created>
  <dcterms:modified xsi:type="dcterms:W3CDTF">2026-09-29T00:16:36Z</dcterms:modified>
</cp:coreProperties>
</file>